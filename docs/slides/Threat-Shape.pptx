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</p:sldIdLst>
  <p:notesMasterIdLst>
    <p:notesMasterId r:id="rId19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notesMaster" Target="notesMasters/notesMaster1.xml"/><Relationship Id="rId20" Type="http://schemas.openxmlformats.org/officeDocument/2006/relationships/presProps" Target="presProps.xml"/><Relationship Id="rId21" Type="http://schemas.openxmlformats.org/officeDocument/2006/relationships/viewProps" Target="viewProps.xml"/><Relationship Id="rId22" Type="http://schemas.openxmlformats.org/officeDocument/2006/relationships/theme" Target="theme/theme1.xml"/><Relationship Id="rId23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Threat-Shape: a visual analytics tool over the European Repository of Cyber Incidents. Two of us, Samuele Proietti and Marco Alberti.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The official EuRepoC dashboard already answers the left column. Our user has to answer the right one, and today that means exporting the data and writing code.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The AS index is above the band on purpose. Counting the encoded width instead would give over 430,000 and would describe the encoding rather than the data.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Two reductions, two different roles: PCA denoises once, t-SNE is the one that runs again on a selection.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Each view is both a source and a target: a selection made anywhere is answered everywhere. No view talks to another directly - they share one selection store.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The map is the entry point. The details panel answers the three questions an analyst asks of a country before anything else.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This is the organising view. Neighbourhood means similarity of profile, which is the question the whole tool exists to answer.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The caveat matters: the bands sum to about 1.7 times the incident count, 2.1 in 2023, so the axis would overstate volume if we did not say so.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 difference of 22.7 points says nothing about whether it runs from 8 to 31 per cent or from 57 to 80. That is why both rates are on screen.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Each refusal is a design decision: an embedding of twelve points looks exactly as confident as one of twelve hundred.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This is what 'dimensionality reduction integrated in the analysis flow' means here: the projection is recomputed on the analyst's own selection.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 count-based dashboard reports 220 incidents against Russia and stops. These two groups differ by a factor of two in intensity.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 finding about the data, produced by our own contrast panel - and the trap the same panel sets. Compare characteristics only inside the homogeneous era.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The intuitive explanation - western CERTs attribute better - is backwards. What differs is who attacks them.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No analytic is started by a menu, and no result exists before an interaction. Both are negative claims, so we made them testable.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Limits stated up front; each of them is a decision we can defend rather than an oversight.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Interaction belongs to the demo, so the deck stops here.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3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4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3F3B7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1325880"/>
            <a:ext cx="78638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Threat-Shape</a:t>
            </a:r>
            <a:endParaRPr lang="en-US" sz="440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2148840"/>
            <a:ext cx="78638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CFCB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shape of a national cyber-threat profile</a:t>
            </a:r>
            <a:endParaRPr lang="en-US" sz="1800" dirty="0"/>
          </a:p>
        </p:txBody>
      </p:sp>
      <p:sp>
        <p:nvSpPr>
          <p:cNvPr id="4" name="Text 2"/>
          <p:cNvSpPr txBox="1"/>
          <p:nvPr/>
        </p:nvSpPr>
        <p:spPr>
          <a:xfrm>
            <a:off x="640080" y="3246120"/>
            <a:ext cx="78638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Samuele Proietti  ·  Marco Alberti</a:t>
            </a:r>
            <a:endParaRPr lang="en-US" sz="1400" dirty="0"/>
          </a:p>
        </p:txBody>
      </p:sp>
      <p:sp>
        <p:nvSpPr>
          <p:cNvPr id="5" name="Text 3"/>
          <p:cNvSpPr txBox="1"/>
          <p:nvPr/>
        </p:nvSpPr>
        <p:spPr>
          <a:xfrm>
            <a:off x="640080" y="3584448"/>
            <a:ext cx="78638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CFCB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Visual Analytics, Sapienza University of Rome  ·  EuRepoC 2000–2024</a:t>
            </a:r>
            <a:endParaRPr lang="en-US" sz="1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E9EB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56032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F233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Counting answers how much, never what kind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457200" y="1051560"/>
            <a:ext cx="3977640" cy="3017520"/>
          </a:xfrm>
          <a:prstGeom prst="roundRect">
            <a:avLst>
              <a:gd name="adj" fmla="val 1818"/>
            </a:avLst>
          </a:prstGeom>
          <a:solidFill>
            <a:srgbClr val="FFFFFF"/>
          </a:solidFill>
          <a:ln/>
          <a:effectLst>
            <a:outerShdw sx="100000" sy="100000" kx="0" ky="0" algn="bl" rotWithShape="0" blurRad="76200" dist="12700" dir="5400000">
              <a:srgbClr val="1F2330">
                <a:alpha val="12000"/>
              </a:srgbClr>
            </a:outerShdw>
          </a:effectLst>
        </p:spPr>
      </p:sp>
      <p:sp>
        <p:nvSpPr>
          <p:cNvPr id="4" name="Text 2"/>
          <p:cNvSpPr txBox="1"/>
          <p:nvPr/>
        </p:nvSpPr>
        <p:spPr>
          <a:xfrm>
            <a:off x="685800" y="1234440"/>
            <a:ext cx="35661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5F65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repositories answer</a:t>
            </a:r>
            <a:endParaRPr lang="en-US" sz="1300" dirty="0"/>
          </a:p>
        </p:txBody>
      </p:sp>
      <p:sp>
        <p:nvSpPr>
          <p:cNvPr id="5" name="Text 3"/>
          <p:cNvSpPr txBox="1"/>
          <p:nvPr/>
        </p:nvSpPr>
        <p:spPr>
          <a:xfrm>
            <a:off x="685800" y="1600200"/>
            <a:ext cx="356616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rgbClr val="1F23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many incidents hit a country</a:t>
            </a:r>
            <a:endParaRPr lang="en-US" sz="13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rgbClr val="1F23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 which year, of which type</a:t>
            </a:r>
            <a:endParaRPr lang="en-US" sz="13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rgbClr val="1F23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Filter, count, tabulate</a:t>
            </a:r>
            <a:endParaRPr lang="en-US" sz="1300" dirty="0"/>
          </a:p>
        </p:txBody>
      </p:sp>
      <p:sp>
        <p:nvSpPr>
          <p:cNvPr id="6" name="Text 4"/>
          <p:cNvSpPr txBox="1"/>
          <p:nvPr/>
        </p:nvSpPr>
        <p:spPr>
          <a:xfrm>
            <a:off x="685800" y="3154680"/>
            <a:ext cx="35661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i="1" dirty="0">
                <a:solidFill>
                  <a:srgbClr val="5F657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“220 incidents hit Russia”</a:t>
            </a:r>
            <a:endParaRPr lang="en-US" sz="1700" dirty="0"/>
          </a:p>
        </p:txBody>
      </p:sp>
      <p:sp>
        <p:nvSpPr>
          <p:cNvPr id="7" name="Shape 5"/>
          <p:cNvSpPr/>
          <p:nvPr/>
        </p:nvSpPr>
        <p:spPr>
          <a:xfrm>
            <a:off x="4709160" y="1051560"/>
            <a:ext cx="3977640" cy="3017520"/>
          </a:xfrm>
          <a:prstGeom prst="roundRect">
            <a:avLst>
              <a:gd name="adj" fmla="val 1818"/>
            </a:avLst>
          </a:prstGeom>
          <a:solidFill>
            <a:srgbClr val="FFFFFF"/>
          </a:solidFill>
          <a:ln/>
          <a:effectLst>
            <a:outerShdw sx="100000" sy="100000" kx="0" ky="0" algn="bl" rotWithShape="0" blurRad="76200" dist="12700" dir="5400000">
              <a:srgbClr val="1F2330">
                <a:alpha val="12000"/>
              </a:srgbClr>
            </a:outerShdw>
          </a:effectLst>
        </p:spPr>
      </p:sp>
      <p:sp>
        <p:nvSpPr>
          <p:cNvPr id="8" name="Text 6"/>
          <p:cNvSpPr txBox="1"/>
          <p:nvPr/>
        </p:nvSpPr>
        <p:spPr>
          <a:xfrm>
            <a:off x="4937760" y="1234440"/>
            <a:ext cx="35661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3F3B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an analyst needs</a:t>
            </a:r>
            <a:endParaRPr lang="en-US" sz="1300" dirty="0"/>
          </a:p>
        </p:txBody>
      </p:sp>
      <p:sp>
        <p:nvSpPr>
          <p:cNvPr id="9" name="Text 7"/>
          <p:cNvSpPr txBox="1"/>
          <p:nvPr/>
        </p:nvSpPr>
        <p:spPr>
          <a:xfrm>
            <a:off x="4937760" y="1600200"/>
            <a:ext cx="356616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rgbClr val="1F23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Which sectors are hit more than expected</a:t>
            </a:r>
            <a:endParaRPr lang="en-US" sz="13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rgbClr val="1F23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Which operations and access vectors recur</a:t>
            </a:r>
            <a:endParaRPr lang="en-US" sz="13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rgbClr val="1F23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Whether the adversary is a state, a criminal or a volunteer</a:t>
            </a:r>
            <a:endParaRPr lang="en-US" sz="13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rgbClr val="1F23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the profile differs from a peer nation</a:t>
            </a:r>
            <a:endParaRPr lang="en-US" sz="1300" dirty="0"/>
          </a:p>
        </p:txBody>
      </p:sp>
      <p:sp>
        <p:nvSpPr>
          <p:cNvPr id="10" name="Text 8"/>
          <p:cNvSpPr txBox="1"/>
          <p:nvPr/>
        </p:nvSpPr>
        <p:spPr>
          <a:xfrm>
            <a:off x="4937760" y="3154680"/>
            <a:ext cx="35661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i="1" dirty="0">
                <a:solidFill>
                  <a:srgbClr val="3F3B7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“Two different adversaries, one incident count”</a:t>
            </a:r>
            <a:endParaRPr lang="en-US" sz="1700" dirty="0"/>
          </a:p>
        </p:txBody>
      </p:sp>
      <p:sp>
        <p:nvSpPr>
          <p:cNvPr id="11" name="Text 9"/>
          <p:cNvSpPr txBox="1"/>
          <p:nvPr/>
        </p:nvSpPr>
        <p:spPr>
          <a:xfrm>
            <a:off x="457200" y="4224528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F65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Intended user: a threat-intelligence analyst at a national CSIRT, preparing a situational assessment for decision-makers.</a:t>
            </a:r>
            <a:endParaRPr lang="en-US" sz="12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E9EB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56032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F233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data: four tables, one matrix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457200" y="1051560"/>
            <a:ext cx="2651760" cy="1234440"/>
          </a:xfrm>
          <a:prstGeom prst="roundRect">
            <a:avLst>
              <a:gd name="adj" fmla="val 4444"/>
            </a:avLst>
          </a:prstGeom>
          <a:solidFill>
            <a:srgbClr val="FFFFFF"/>
          </a:solidFill>
          <a:ln/>
          <a:effectLst>
            <a:outerShdw sx="100000" sy="100000" kx="0" ky="0" algn="bl" rotWithShape="0" blurRad="76200" dist="12700" dir="5400000">
              <a:srgbClr val="1F2330">
                <a:alpha val="12000"/>
              </a:srgbClr>
            </a:outerShdw>
          </a:effectLst>
        </p:spPr>
      </p:sp>
      <p:sp>
        <p:nvSpPr>
          <p:cNvPr id="4" name="Text 2"/>
          <p:cNvSpPr txBox="1"/>
          <p:nvPr/>
        </p:nvSpPr>
        <p:spPr>
          <a:xfrm>
            <a:off x="640080" y="1170432"/>
            <a:ext cx="22860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000" b="1" dirty="0">
                <a:solidFill>
                  <a:srgbClr val="3F3B7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3,414</a:t>
            </a:r>
            <a:endParaRPr lang="en-US" sz="3000" dirty="0"/>
          </a:p>
        </p:txBody>
      </p:sp>
      <p:sp>
        <p:nvSpPr>
          <p:cNvPr id="5" name="Text 3"/>
          <p:cNvSpPr txBox="1"/>
          <p:nvPr/>
        </p:nvSpPr>
        <p:spPr>
          <a:xfrm>
            <a:off x="640080" y="1737360"/>
            <a:ext cx="2286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5F65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incidents, 2000–2024</a:t>
            </a:r>
            <a:endParaRPr lang="en-US" sz="1150" dirty="0"/>
          </a:p>
        </p:txBody>
      </p:sp>
      <p:sp>
        <p:nvSpPr>
          <p:cNvPr id="6" name="Shape 4"/>
          <p:cNvSpPr/>
          <p:nvPr/>
        </p:nvSpPr>
        <p:spPr>
          <a:xfrm>
            <a:off x="3291840" y="1051560"/>
            <a:ext cx="2651760" cy="1234440"/>
          </a:xfrm>
          <a:prstGeom prst="roundRect">
            <a:avLst>
              <a:gd name="adj" fmla="val 4444"/>
            </a:avLst>
          </a:prstGeom>
          <a:solidFill>
            <a:srgbClr val="FFFFFF"/>
          </a:solidFill>
          <a:ln/>
          <a:effectLst>
            <a:outerShdw sx="100000" sy="100000" kx="0" ky="0" algn="bl" rotWithShape="0" blurRad="76200" dist="12700" dir="5400000">
              <a:srgbClr val="1F2330">
                <a:alpha val="12000"/>
              </a:srgbClr>
            </a:outerShdw>
          </a:effectLst>
        </p:spPr>
      </p:sp>
      <p:sp>
        <p:nvSpPr>
          <p:cNvPr id="7" name="Text 5"/>
          <p:cNvSpPr txBox="1"/>
          <p:nvPr/>
        </p:nvSpPr>
        <p:spPr>
          <a:xfrm>
            <a:off x="3474720" y="1170432"/>
            <a:ext cx="22860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000" b="1" dirty="0">
                <a:solidFill>
                  <a:srgbClr val="3F3B7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18</a:t>
            </a:r>
            <a:endParaRPr lang="en-US" sz="3000" dirty="0"/>
          </a:p>
        </p:txBody>
      </p:sp>
      <p:sp>
        <p:nvSpPr>
          <p:cNvPr id="8" name="Text 6"/>
          <p:cNvSpPr txBox="1"/>
          <p:nvPr/>
        </p:nvSpPr>
        <p:spPr>
          <a:xfrm>
            <a:off x="3474720" y="1737360"/>
            <a:ext cx="2286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5F65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analytical columns kept of 85</a:t>
            </a:r>
            <a:endParaRPr lang="en-US" sz="1150" dirty="0"/>
          </a:p>
        </p:txBody>
      </p:sp>
      <p:sp>
        <p:nvSpPr>
          <p:cNvPr id="9" name="Shape 7"/>
          <p:cNvSpPr/>
          <p:nvPr/>
        </p:nvSpPr>
        <p:spPr>
          <a:xfrm>
            <a:off x="6126480" y="1051560"/>
            <a:ext cx="2651760" cy="1234440"/>
          </a:xfrm>
          <a:prstGeom prst="roundRect">
            <a:avLst>
              <a:gd name="adj" fmla="val 4444"/>
            </a:avLst>
          </a:prstGeom>
          <a:solidFill>
            <a:srgbClr val="FFFFFF"/>
          </a:solidFill>
          <a:ln/>
          <a:effectLst>
            <a:outerShdw sx="100000" sy="100000" kx="0" ky="0" algn="bl" rotWithShape="0" blurRad="76200" dist="12700" dir="5400000">
              <a:srgbClr val="1F2330">
                <a:alpha val="12000"/>
              </a:srgbClr>
            </a:outerShdw>
          </a:effectLst>
        </p:spPr>
      </p:sp>
      <p:sp>
        <p:nvSpPr>
          <p:cNvPr id="10" name="Text 8"/>
          <p:cNvSpPr txBox="1"/>
          <p:nvPr/>
        </p:nvSpPr>
        <p:spPr>
          <a:xfrm>
            <a:off x="6309360" y="1170432"/>
            <a:ext cx="22860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000" b="1" dirty="0">
                <a:solidFill>
                  <a:srgbClr val="B2182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61,452</a:t>
            </a:r>
            <a:endParaRPr lang="en-US" sz="3000" dirty="0"/>
          </a:p>
        </p:txBody>
      </p:sp>
      <p:sp>
        <p:nvSpPr>
          <p:cNvPr id="11" name="Text 9"/>
          <p:cNvSpPr txBox="1"/>
          <p:nvPr/>
        </p:nvSpPr>
        <p:spPr>
          <a:xfrm>
            <a:off x="6309360" y="1737360"/>
            <a:ext cx="2286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5F65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 index (3,414 × 18)</a:t>
            </a:r>
            <a:endParaRPr lang="en-US" sz="1150" dirty="0"/>
          </a:p>
        </p:txBody>
      </p:sp>
      <p:sp>
        <p:nvSpPr>
          <p:cNvPr id="12" name="Shape 10"/>
          <p:cNvSpPr/>
          <p:nvPr/>
        </p:nvSpPr>
        <p:spPr>
          <a:xfrm>
            <a:off x="457200" y="2468880"/>
            <a:ext cx="8229600" cy="1691640"/>
          </a:xfrm>
          <a:prstGeom prst="roundRect">
            <a:avLst>
              <a:gd name="adj" fmla="val 3243"/>
            </a:avLst>
          </a:prstGeom>
          <a:solidFill>
            <a:srgbClr val="FFFFFF"/>
          </a:solidFill>
          <a:ln/>
          <a:effectLst>
            <a:outerShdw sx="100000" sy="100000" kx="0" ky="0" algn="bl" rotWithShape="0" blurRad="76200" dist="12700" dir="5400000">
              <a:srgbClr val="1F2330">
                <a:alpha val="12000"/>
              </a:srgbClr>
            </a:outerShdw>
          </a:effectLst>
        </p:spPr>
      </p:sp>
      <p:sp>
        <p:nvSpPr>
          <p:cNvPr id="13" name="Text 11"/>
          <p:cNvSpPr txBox="1"/>
          <p:nvPr/>
        </p:nvSpPr>
        <p:spPr>
          <a:xfrm>
            <a:off x="685800" y="260604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F23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Encoding</a:t>
            </a:r>
            <a:endParaRPr lang="en-US" sz="1300" dirty="0"/>
          </a:p>
        </p:txBody>
      </p:sp>
      <p:sp>
        <p:nvSpPr>
          <p:cNvPr id="14" name="Text 12"/>
          <p:cNvSpPr txBox="1"/>
          <p:nvPr/>
        </p:nvSpPr>
        <p:spPr>
          <a:xfrm>
            <a:off x="685800" y="2926080"/>
            <a:ext cx="77724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250" dirty="0">
                <a:solidFill>
                  <a:srgbClr val="1F23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14 categorical blocks (type, access, impact, issue, actor, sector, law…) exploded into 123 binary indicators, plus 4 ordinal severity variables</a:t>
            </a:r>
            <a:endParaRPr lang="en-US" sz="125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250" dirty="0">
                <a:solidFill>
                  <a:srgbClr val="1F23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“Not available” kept as its own indicator: whether a field was coded is itself a signal — and it produced one of our findings</a:t>
            </a:r>
            <a:endParaRPr lang="en-US" sz="125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250" dirty="0">
                <a:solidFill>
                  <a:srgbClr val="1F23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 index counts the 18 conceptual variables, not the 127 encoded columns: above the 10,000–50,000 band, deliberately</a:t>
            </a:r>
            <a:endParaRPr lang="en-US" sz="12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E9EB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56032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F233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From 127 columns to a plane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457200" y="1234440"/>
            <a:ext cx="2514600" cy="1463040"/>
          </a:xfrm>
          <a:prstGeom prst="roundRect">
            <a:avLst>
              <a:gd name="adj" fmla="val 3750"/>
            </a:avLst>
          </a:prstGeom>
          <a:solidFill>
            <a:srgbClr val="FFFFFF"/>
          </a:solidFill>
          <a:ln/>
          <a:effectLst>
            <a:outerShdw sx="100000" sy="100000" kx="0" ky="0" algn="bl" rotWithShape="0" blurRad="76200" dist="12700" dir="5400000">
              <a:srgbClr val="1F2330">
                <a:alpha val="12000"/>
              </a:srgbClr>
            </a:outerShdw>
          </a:effectLst>
        </p:spPr>
      </p:sp>
      <p:sp>
        <p:nvSpPr>
          <p:cNvPr id="4" name="Text 2"/>
          <p:cNvSpPr txBox="1"/>
          <p:nvPr/>
        </p:nvSpPr>
        <p:spPr>
          <a:xfrm>
            <a:off x="640080" y="1371600"/>
            <a:ext cx="2148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rgbClr val="5F657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Standardize</a:t>
            </a:r>
            <a:endParaRPr lang="en-US" sz="1800" dirty="0"/>
          </a:p>
        </p:txBody>
      </p:sp>
      <p:sp>
        <p:nvSpPr>
          <p:cNvPr id="5" name="Text 3"/>
          <p:cNvSpPr txBox="1"/>
          <p:nvPr/>
        </p:nvSpPr>
        <p:spPr>
          <a:xfrm>
            <a:off x="640080" y="1783080"/>
            <a:ext cx="21488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5F65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zero mean, unit variance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5F65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 column</a:t>
            </a:r>
            <a:endParaRPr lang="en-US" sz="1200" dirty="0"/>
          </a:p>
        </p:txBody>
      </p:sp>
      <p:sp>
        <p:nvSpPr>
          <p:cNvPr id="6" name="Text 4"/>
          <p:cNvSpPr txBox="1"/>
          <p:nvPr/>
        </p:nvSpPr>
        <p:spPr>
          <a:xfrm>
            <a:off x="3035808" y="1691640"/>
            <a:ext cx="320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3F3B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›</a:t>
            </a:r>
            <a:endParaRPr lang="en-US" sz="2400" dirty="0"/>
          </a:p>
        </p:txBody>
      </p:sp>
      <p:sp>
        <p:nvSpPr>
          <p:cNvPr id="7" name="Shape 5"/>
          <p:cNvSpPr/>
          <p:nvPr/>
        </p:nvSpPr>
        <p:spPr>
          <a:xfrm>
            <a:off x="3429000" y="1234440"/>
            <a:ext cx="2514600" cy="1463040"/>
          </a:xfrm>
          <a:prstGeom prst="roundRect">
            <a:avLst>
              <a:gd name="adj" fmla="val 3750"/>
            </a:avLst>
          </a:prstGeom>
          <a:solidFill>
            <a:srgbClr val="FFFFFF"/>
          </a:solidFill>
          <a:ln/>
          <a:effectLst>
            <a:outerShdw sx="100000" sy="100000" kx="0" ky="0" algn="bl" rotWithShape="0" blurRad="76200" dist="12700" dir="5400000">
              <a:srgbClr val="1F2330">
                <a:alpha val="12000"/>
              </a:srgbClr>
            </a:outerShdw>
          </a:effectLst>
        </p:spPr>
      </p:sp>
      <p:sp>
        <p:nvSpPr>
          <p:cNvPr id="8" name="Text 6"/>
          <p:cNvSpPr txBox="1"/>
          <p:nvPr/>
        </p:nvSpPr>
        <p:spPr>
          <a:xfrm>
            <a:off x="3611880" y="1371600"/>
            <a:ext cx="2148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rgbClr val="5F657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PCA → 20</a:t>
            </a:r>
            <a:endParaRPr lang="en-US" sz="1800" dirty="0"/>
          </a:p>
        </p:txBody>
      </p:sp>
      <p:sp>
        <p:nvSpPr>
          <p:cNvPr id="9" name="Text 7"/>
          <p:cNvSpPr txBox="1"/>
          <p:nvPr/>
        </p:nvSpPr>
        <p:spPr>
          <a:xfrm>
            <a:off x="3611880" y="1783080"/>
            <a:ext cx="21488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5F65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static, offline denoising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5F65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50.7% of the variance</a:t>
            </a:r>
            <a:endParaRPr lang="en-US" sz="1200" dirty="0"/>
          </a:p>
        </p:txBody>
      </p:sp>
      <p:sp>
        <p:nvSpPr>
          <p:cNvPr id="10" name="Text 8"/>
          <p:cNvSpPr txBox="1"/>
          <p:nvPr/>
        </p:nvSpPr>
        <p:spPr>
          <a:xfrm>
            <a:off x="6007608" y="1691640"/>
            <a:ext cx="320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3F3B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›</a:t>
            </a:r>
            <a:endParaRPr lang="en-US" sz="2400" dirty="0"/>
          </a:p>
        </p:txBody>
      </p:sp>
      <p:sp>
        <p:nvSpPr>
          <p:cNvPr id="11" name="Shape 9"/>
          <p:cNvSpPr/>
          <p:nvPr/>
        </p:nvSpPr>
        <p:spPr>
          <a:xfrm>
            <a:off x="6400800" y="1234440"/>
            <a:ext cx="2514600" cy="1463040"/>
          </a:xfrm>
          <a:prstGeom prst="roundRect">
            <a:avLst>
              <a:gd name="adj" fmla="val 3750"/>
            </a:avLst>
          </a:prstGeom>
          <a:solidFill>
            <a:srgbClr val="FFFFFF"/>
          </a:solidFill>
          <a:ln/>
          <a:effectLst>
            <a:outerShdw sx="100000" sy="100000" kx="0" ky="0" algn="bl" rotWithShape="0" blurRad="76200" dist="12700" dir="5400000">
              <a:srgbClr val="1F2330">
                <a:alpha val="12000"/>
              </a:srgbClr>
            </a:outerShdw>
          </a:effectLst>
        </p:spPr>
      </p:sp>
      <p:sp>
        <p:nvSpPr>
          <p:cNvPr id="12" name="Text 10"/>
          <p:cNvSpPr txBox="1"/>
          <p:nvPr/>
        </p:nvSpPr>
        <p:spPr>
          <a:xfrm>
            <a:off x="6583680" y="1371600"/>
            <a:ext cx="2148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rgbClr val="3F3B7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t-SNE → 2D</a:t>
            </a:r>
            <a:endParaRPr lang="en-US" sz="1800" dirty="0"/>
          </a:p>
        </p:txBody>
      </p:sp>
      <p:sp>
        <p:nvSpPr>
          <p:cNvPr id="13" name="Text 11"/>
          <p:cNvSpPr txBox="1"/>
          <p:nvPr/>
        </p:nvSpPr>
        <p:spPr>
          <a:xfrm>
            <a:off x="6583680" y="1783080"/>
            <a:ext cx="21488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5F65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perplexity 30, fixed seed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5F65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trustworthiness 0.990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457200" y="2926080"/>
            <a:ext cx="8229600" cy="1234440"/>
          </a:xfrm>
          <a:prstGeom prst="roundRect">
            <a:avLst>
              <a:gd name="adj" fmla="val 4444"/>
            </a:avLst>
          </a:prstGeom>
          <a:solidFill>
            <a:srgbClr val="FFFFFF"/>
          </a:solidFill>
          <a:ln/>
          <a:effectLst>
            <a:outerShdw sx="100000" sy="100000" kx="0" ky="0" algn="bl" rotWithShape="0" blurRad="76200" dist="12700" dir="5400000">
              <a:srgbClr val="1F2330">
                <a:alpha val="12000"/>
              </a:srgbClr>
            </a:outerShdw>
          </a:effectLst>
        </p:spPr>
      </p:sp>
      <p:sp>
        <p:nvSpPr>
          <p:cNvPr id="15" name="Text 13"/>
          <p:cNvSpPr txBox="1"/>
          <p:nvPr/>
        </p:nvSpPr>
        <p:spPr>
          <a:xfrm>
            <a:off x="685800" y="3108960"/>
            <a:ext cx="77724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250" dirty="0">
                <a:solidFill>
                  <a:srgbClr val="1F23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Perplexity chosen by trustworthiness, not by KL divergence, which falls with perplexity by construction (0.9877 / 0.9897 / 0.9885 for 15 / 30 / 50)</a:t>
            </a:r>
            <a:endParaRPr lang="en-US" sz="125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250" dirty="0">
                <a:solidFill>
                  <a:srgbClr val="1F23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PCA is never recomputed; t-SNE is the technique integrated in the analysis flow, refitted on whatever the analyst selects</a:t>
            </a:r>
            <a:endParaRPr lang="en-US" sz="12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E9EB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56032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F233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Four coordinated views, one selection</a:t>
            </a:r>
            <a:endParaRPr lang="en-US" sz="2800" dirty="0"/>
          </a:p>
        </p:txBody>
      </p:sp>
      <p:pic>
        <p:nvPicPr>
          <p:cNvPr id="3" name="Image 0" descr="C:\Users\samue\AppData\Local\Temp\claude\C--Users-samue-Documents-Universit--Magistrale-Visual-Analytics-threat-shape\5b1a0e67-32f2-4383-9f6b-aabc9bc776c8\scratchpad\deck\img\dashboar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66928" y="960120"/>
            <a:ext cx="8001000" cy="3977640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E9EB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56032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F233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View A — world choropleth</a:t>
            </a:r>
            <a:endParaRPr lang="en-US" sz="2800" dirty="0"/>
          </a:p>
        </p:txBody>
      </p:sp>
      <p:pic>
        <p:nvPicPr>
          <p:cNvPr id="3" name="Image 0" descr="C:\Users\samue\AppData\Local\Temp\claude\C--Users-samue-Documents-Universit--Magistrale-Visual-Analytics-threat-shape\5b1a0e67-32f2-4383-9f6b-aabc9bc776c8\scratchpad\deck\img\view-a-map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11480" y="1051560"/>
            <a:ext cx="5943600" cy="2834640"/>
          </a:xfrm>
          <a:prstGeom prst="rect">
            <a:avLst/>
          </a:prstGeom>
        </p:spPr>
      </p:pic>
      <p:sp>
        <p:nvSpPr>
          <p:cNvPr id="4" name="Text 1"/>
          <p:cNvSpPr txBox="1"/>
          <p:nvPr/>
        </p:nvSpPr>
        <p:spPr>
          <a:xfrm>
            <a:off x="411480" y="4005072"/>
            <a:ext cx="5943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i="1" dirty="0">
                <a:solidFill>
                  <a:srgbClr val="5F65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Russia selected: 220 incidents suffered, 380 initiated, top sector critical infrastructure.</a:t>
            </a:r>
            <a:endParaRPr lang="en-US" sz="1050" dirty="0"/>
          </a:p>
        </p:txBody>
      </p:sp>
      <p:sp>
        <p:nvSpPr>
          <p:cNvPr id="5" name="Shape 2"/>
          <p:cNvSpPr/>
          <p:nvPr/>
        </p:nvSpPr>
        <p:spPr>
          <a:xfrm>
            <a:off x="6537960" y="1051560"/>
            <a:ext cx="2194560" cy="2834640"/>
          </a:xfrm>
          <a:prstGeom prst="roundRect">
            <a:avLst>
              <a:gd name="adj" fmla="val 2500"/>
            </a:avLst>
          </a:prstGeom>
          <a:solidFill>
            <a:srgbClr val="FFFFFF"/>
          </a:solidFill>
          <a:ln/>
          <a:effectLst>
            <a:outerShdw sx="100000" sy="100000" kx="0" ky="0" algn="bl" rotWithShape="0" blurRad="76200" dist="12700" dir="5400000">
              <a:srgbClr val="1F2330">
                <a:alpha val="12000"/>
              </a:srgbClr>
            </a:outerShdw>
          </a:effectLst>
        </p:spPr>
      </p:sp>
      <p:sp>
        <p:nvSpPr>
          <p:cNvPr id="6" name="Text 3"/>
          <p:cNvSpPr txBox="1"/>
          <p:nvPr/>
        </p:nvSpPr>
        <p:spPr>
          <a:xfrm>
            <a:off x="6720840" y="1234440"/>
            <a:ext cx="1874520" cy="2514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150" dirty="0">
                <a:solidFill>
                  <a:srgbClr val="1F23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Entry view: the selection starts here</a:t>
            </a:r>
            <a:endParaRPr lang="en-US" sz="115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150" dirty="0">
                <a:solidFill>
                  <a:srgbClr val="1F23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Divergent scale on the standardized deviation, plus a layer for unattributed incidents</a:t>
            </a:r>
            <a:endParaRPr lang="en-US" sz="115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150" dirty="0">
                <a:solidFill>
                  <a:srgbClr val="1F23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Miller projection: neither conformal nor equal-area, chosen so small states stay clickable</a:t>
            </a:r>
            <a:endParaRPr lang="en-US" sz="11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E9EB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56032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F233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View B — t-SNE projection</a:t>
            </a:r>
            <a:endParaRPr lang="en-US" sz="2800" dirty="0"/>
          </a:p>
        </p:txBody>
      </p:sp>
      <p:pic>
        <p:nvPicPr>
          <p:cNvPr id="3" name="Image 0" descr="C:\Users\samue\AppData\Local\Temp\claude\C--Users-samue-Documents-Universit--Magistrale-Visual-Analytics-threat-shape\5b1a0e67-32f2-4383-9f6b-aabc9bc776c8\scratchpad\deck\img\view-b-tsn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11480" y="1051560"/>
            <a:ext cx="5943600" cy="2834640"/>
          </a:xfrm>
          <a:prstGeom prst="rect">
            <a:avLst/>
          </a:prstGeom>
        </p:spPr>
      </p:pic>
      <p:sp>
        <p:nvSpPr>
          <p:cNvPr id="4" name="Text 1"/>
          <p:cNvSpPr txBox="1"/>
          <p:nvPr/>
        </p:nvSpPr>
        <p:spPr>
          <a:xfrm>
            <a:off x="411480" y="4005072"/>
            <a:ext cx="5943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i="1" dirty="0">
                <a:solidFill>
                  <a:srgbClr val="5F65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mark per incident; the Russian incidents concentrate in two dense regions.</a:t>
            </a:r>
            <a:endParaRPr lang="en-US" sz="1050" dirty="0"/>
          </a:p>
        </p:txBody>
      </p:sp>
      <p:sp>
        <p:nvSpPr>
          <p:cNvPr id="5" name="Shape 2"/>
          <p:cNvSpPr/>
          <p:nvPr/>
        </p:nvSpPr>
        <p:spPr>
          <a:xfrm>
            <a:off x="6537960" y="1051560"/>
            <a:ext cx="2194560" cy="2834640"/>
          </a:xfrm>
          <a:prstGeom prst="roundRect">
            <a:avLst>
              <a:gd name="adj" fmla="val 2500"/>
            </a:avLst>
          </a:prstGeom>
          <a:solidFill>
            <a:srgbClr val="FFFFFF"/>
          </a:solidFill>
          <a:ln/>
          <a:effectLst>
            <a:outerShdw sx="100000" sy="100000" kx="0" ky="0" algn="bl" rotWithShape="0" blurRad="76200" dist="12700" dir="5400000">
              <a:srgbClr val="1F2330">
                <a:alpha val="12000"/>
              </a:srgbClr>
            </a:outerShdw>
          </a:effectLst>
        </p:spPr>
      </p:sp>
      <p:sp>
        <p:nvSpPr>
          <p:cNvPr id="6" name="Text 3"/>
          <p:cNvSpPr txBox="1"/>
          <p:nvPr/>
        </p:nvSpPr>
        <p:spPr>
          <a:xfrm>
            <a:off x="6720840" y="1234440"/>
            <a:ext cx="1874520" cy="2514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150" dirty="0">
                <a:solidFill>
                  <a:srgbClr val="1F23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Colour: weighted intensity, sequential single hue</a:t>
            </a:r>
            <a:endParaRPr lang="en-US" sz="115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150" dirty="0">
                <a:solidFill>
                  <a:srgbClr val="1F23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Size: affected entities, log scale, value on the area</a:t>
            </a:r>
            <a:endParaRPr lang="en-US" sz="115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150" dirty="0">
                <a:solidFill>
                  <a:srgbClr val="1F23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axes: the coordinates have no units, and distances between clusters mean nothing</a:t>
            </a:r>
            <a:endParaRPr lang="en-US" sz="11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E9EB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56032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F233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View C — stacked area timeline</a:t>
            </a:r>
            <a:endParaRPr lang="en-US" sz="2800" dirty="0"/>
          </a:p>
        </p:txBody>
      </p:sp>
      <p:pic>
        <p:nvPicPr>
          <p:cNvPr id="3" name="Image 0" descr="C:\Users\samue\AppData\Local\Temp\claude\C--Users-samue-Documents-Universit--Magistrale-Visual-Analytics-threat-shape\5b1a0e67-32f2-4383-9f6b-aabc9bc776c8\scratchpad\deck\img\view-c-timelin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11480" y="1051560"/>
            <a:ext cx="5943600" cy="2834640"/>
          </a:xfrm>
          <a:prstGeom prst="rect">
            <a:avLst/>
          </a:prstGeom>
        </p:spPr>
      </p:pic>
      <p:sp>
        <p:nvSpPr>
          <p:cNvPr id="4" name="Text 1"/>
          <p:cNvSpPr txBox="1"/>
          <p:nvPr/>
        </p:nvSpPr>
        <p:spPr>
          <a:xfrm>
            <a:off x="411480" y="4005072"/>
            <a:ext cx="5943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i="1" dirty="0">
                <a:solidFill>
                  <a:srgbClr val="5F65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Incident types per year; the count axis follows the current selection.</a:t>
            </a:r>
            <a:endParaRPr lang="en-US" sz="1050" dirty="0"/>
          </a:p>
        </p:txBody>
      </p:sp>
      <p:sp>
        <p:nvSpPr>
          <p:cNvPr id="5" name="Shape 2"/>
          <p:cNvSpPr/>
          <p:nvPr/>
        </p:nvSpPr>
        <p:spPr>
          <a:xfrm>
            <a:off x="6537960" y="1051560"/>
            <a:ext cx="2194560" cy="2834640"/>
          </a:xfrm>
          <a:prstGeom prst="roundRect">
            <a:avLst>
              <a:gd name="adj" fmla="val 2500"/>
            </a:avLst>
          </a:prstGeom>
          <a:solidFill>
            <a:srgbClr val="FFFFFF"/>
          </a:solidFill>
          <a:ln/>
          <a:effectLst>
            <a:outerShdw sx="100000" sy="100000" kx="0" ky="0" algn="bl" rotWithShape="0" blurRad="76200" dist="12700" dir="5400000">
              <a:srgbClr val="1F2330">
                <a:alpha val="12000"/>
              </a:srgbClr>
            </a:outerShdw>
          </a:effectLst>
        </p:spPr>
      </p:sp>
      <p:sp>
        <p:nvSpPr>
          <p:cNvPr id="6" name="Text 3"/>
          <p:cNvSpPr txBox="1"/>
          <p:nvPr/>
        </p:nvSpPr>
        <p:spPr>
          <a:xfrm>
            <a:off x="6720840" y="1234440"/>
            <a:ext cx="1874520" cy="2514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150" dirty="0">
                <a:solidFill>
                  <a:srgbClr val="1F23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Okabe–Ito palette: safe under the common colour-vision deficiencies</a:t>
            </a:r>
            <a:endParaRPr lang="en-US" sz="115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150" dirty="0">
                <a:solidFill>
                  <a:srgbClr val="1F23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Bands count type occurrences, not incidents</a:t>
            </a:r>
            <a:endParaRPr lang="en-US" sz="115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150" dirty="0">
                <a:solidFill>
                  <a:srgbClr val="1F23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brushed window restricts every computation to its years</a:t>
            </a:r>
            <a:endParaRPr lang="en-US" sz="115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E9EB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56032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F233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View D — contrast panel</a:t>
            </a:r>
            <a:endParaRPr lang="en-US" sz="2800" dirty="0"/>
          </a:p>
        </p:txBody>
      </p:sp>
      <p:pic>
        <p:nvPicPr>
          <p:cNvPr id="3" name="Image 0" descr="C:\Users\samue\AppData\Local\Temp\claude\C--Users-samue-Documents-Universit--Magistrale-Visual-Analytics-threat-shape\5b1a0e67-32f2-4383-9f6b-aabc9bc776c8\scratchpad\deck\img\view-d-contrast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11480" y="1051560"/>
            <a:ext cx="5943600" cy="2834640"/>
          </a:xfrm>
          <a:prstGeom prst="rect">
            <a:avLst/>
          </a:prstGeom>
        </p:spPr>
      </p:pic>
      <p:sp>
        <p:nvSpPr>
          <p:cNvPr id="4" name="Text 1"/>
          <p:cNvSpPr txBox="1"/>
          <p:nvPr/>
        </p:nvSpPr>
        <p:spPr>
          <a:xfrm>
            <a:off x="411480" y="4005072"/>
            <a:ext cx="5943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i="1" dirty="0">
                <a:solidFill>
                  <a:srgbClr val="5F65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Ukraine against Russia: the two rates, their difference and its reliability.</a:t>
            </a:r>
            <a:endParaRPr lang="en-US" sz="1050" dirty="0"/>
          </a:p>
        </p:txBody>
      </p:sp>
      <p:sp>
        <p:nvSpPr>
          <p:cNvPr id="5" name="Shape 2"/>
          <p:cNvSpPr/>
          <p:nvPr/>
        </p:nvSpPr>
        <p:spPr>
          <a:xfrm>
            <a:off x="6537960" y="1051560"/>
            <a:ext cx="2194560" cy="2834640"/>
          </a:xfrm>
          <a:prstGeom prst="roundRect">
            <a:avLst>
              <a:gd name="adj" fmla="val 2500"/>
            </a:avLst>
          </a:prstGeom>
          <a:solidFill>
            <a:srgbClr val="FFFFFF"/>
          </a:solidFill>
          <a:ln/>
          <a:effectLst>
            <a:outerShdw sx="100000" sy="100000" kx="0" ky="0" algn="bl" rotWithShape="0" blurRad="76200" dist="12700" dir="5400000">
              <a:srgbClr val="1F2330">
                <a:alpha val="12000"/>
              </a:srgbClr>
            </a:outerShdw>
          </a:effectLst>
        </p:spPr>
      </p:sp>
      <p:sp>
        <p:nvSpPr>
          <p:cNvPr id="6" name="Text 3"/>
          <p:cNvSpPr txBox="1"/>
          <p:nvPr/>
        </p:nvSpPr>
        <p:spPr>
          <a:xfrm>
            <a:off x="6720840" y="1234440"/>
            <a:ext cx="1874520" cy="2514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150" dirty="0">
                <a:solidFill>
                  <a:srgbClr val="1F23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dumbbell per indicator: hollow dot the comparison, filled dot the selection</a:t>
            </a:r>
            <a:endParaRPr lang="en-US" sz="115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150" dirty="0">
                <a:solidFill>
                  <a:srgbClr val="1F23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Grouped into who, what, against whom, how, with what effect, why</a:t>
            </a:r>
            <a:endParaRPr lang="en-US" sz="115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150" dirty="0">
                <a:solidFill>
                  <a:srgbClr val="1F23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Length is the difference; order is |z|, the reliability</a:t>
            </a:r>
            <a:endParaRPr lang="en-US" sz="115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E9EB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56032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F233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Three computations, none before a selection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457200" y="1024128"/>
            <a:ext cx="8229600" cy="896112"/>
          </a:xfrm>
          <a:prstGeom prst="roundRect">
            <a:avLst>
              <a:gd name="adj" fmla="val 6122"/>
            </a:avLst>
          </a:prstGeom>
          <a:solidFill>
            <a:srgbClr val="FFFFFF"/>
          </a:solidFill>
          <a:ln/>
          <a:effectLst>
            <a:outerShdw sx="100000" sy="100000" kx="0" ky="0" algn="bl" rotWithShape="0" blurRad="76200" dist="12700" dir="5400000">
              <a:srgbClr val="1F2330">
                <a:alpha val="12000"/>
              </a:srgbClr>
            </a:outerShdw>
          </a:effectLst>
        </p:spPr>
      </p:sp>
      <p:sp>
        <p:nvSpPr>
          <p:cNvPr id="4" name="Text 2"/>
          <p:cNvSpPr txBox="1"/>
          <p:nvPr/>
        </p:nvSpPr>
        <p:spPr>
          <a:xfrm>
            <a:off x="685800" y="1133856"/>
            <a:ext cx="23774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B2182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Standardized deviation</a:t>
            </a:r>
            <a:endParaRPr lang="en-US" sz="1500" dirty="0"/>
          </a:p>
        </p:txBody>
      </p:sp>
      <p:sp>
        <p:nvSpPr>
          <p:cNvPr id="5" name="Text 3"/>
          <p:cNvSpPr txBox="1"/>
          <p:nvPr/>
        </p:nvSpPr>
        <p:spPr>
          <a:xfrm>
            <a:off x="3154680" y="1133856"/>
            <a:ext cx="5349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1F23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 = (x − μ) / σ per country–sector cell of the current selection. Cells with an expected count below 5 are flagged “small sample”, never suppressed.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457200" y="2048256"/>
            <a:ext cx="8229600" cy="896112"/>
          </a:xfrm>
          <a:prstGeom prst="roundRect">
            <a:avLst>
              <a:gd name="adj" fmla="val 6122"/>
            </a:avLst>
          </a:prstGeom>
          <a:solidFill>
            <a:srgbClr val="FFFFFF"/>
          </a:solidFill>
          <a:ln/>
          <a:effectLst>
            <a:outerShdw sx="100000" sy="100000" kx="0" ky="0" algn="bl" rotWithShape="0" blurRad="76200" dist="12700" dir="5400000">
              <a:srgbClr val="1F2330">
                <a:alpha val="12000"/>
              </a:srgbClr>
            </a:outerShdw>
          </a:effectLst>
        </p:spPr>
      </p:sp>
      <p:sp>
        <p:nvSpPr>
          <p:cNvPr id="7" name="Text 5"/>
          <p:cNvSpPr txBox="1"/>
          <p:nvPr/>
        </p:nvSpPr>
        <p:spPr>
          <a:xfrm>
            <a:off x="685800" y="2157984"/>
            <a:ext cx="23774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3F3B7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Local re-projection</a:t>
            </a:r>
            <a:endParaRPr lang="en-US" sz="1500" dirty="0"/>
          </a:p>
        </p:txBody>
      </p:sp>
      <p:sp>
        <p:nvSpPr>
          <p:cNvPr id="8" name="Text 6"/>
          <p:cNvSpPr txBox="1"/>
          <p:nvPr/>
        </p:nvSpPr>
        <p:spPr>
          <a:xfrm>
            <a:off x="3154680" y="2157984"/>
            <a:ext cx="5349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1F23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t-SNE refitted on the selected subset alone, perplexity (n−1)/3 capped at 30. Below 30 incidents the tool refuses and says so.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457200" y="3072384"/>
            <a:ext cx="8229600" cy="896112"/>
          </a:xfrm>
          <a:prstGeom prst="roundRect">
            <a:avLst>
              <a:gd name="adj" fmla="val 6122"/>
            </a:avLst>
          </a:prstGeom>
          <a:solidFill>
            <a:srgbClr val="FFFFFF"/>
          </a:solidFill>
          <a:ln/>
          <a:effectLst>
            <a:outerShdw sx="100000" sy="100000" kx="0" ky="0" algn="bl" rotWithShape="0" blurRad="76200" dist="12700" dir="5400000">
              <a:srgbClr val="1F2330">
                <a:alpha val="12000"/>
              </a:srgbClr>
            </a:outerShdw>
          </a:effectLst>
        </p:spPr>
      </p:sp>
      <p:sp>
        <p:nvSpPr>
          <p:cNvPr id="10" name="Text 8"/>
          <p:cNvSpPr txBox="1"/>
          <p:nvPr/>
        </p:nvSpPr>
        <p:spPr>
          <a:xfrm>
            <a:off x="685800" y="3182112"/>
            <a:ext cx="23774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2166A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Contrastive z-scores</a:t>
            </a:r>
            <a:endParaRPr lang="en-US" sz="1500" dirty="0"/>
          </a:p>
        </p:txBody>
      </p:sp>
      <p:sp>
        <p:nvSpPr>
          <p:cNvPr id="11" name="Text 9"/>
          <p:cNvSpPr txBox="1"/>
          <p:nvPr/>
        </p:nvSpPr>
        <p:spPr>
          <a:xfrm>
            <a:off x="3154680" y="3182112"/>
            <a:ext cx="5349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1F23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Pooled two-proportion test over the 123 indicators; features failing the validity condition are shown faded, and a group below 20 incidents is refused.</a:t>
            </a:r>
            <a:endParaRPr lang="en-US" sz="1200" dirty="0"/>
          </a:p>
        </p:txBody>
      </p:sp>
      <p:sp>
        <p:nvSpPr>
          <p:cNvPr id="12" name="Text 10"/>
          <p:cNvSpPr txBox="1"/>
          <p:nvPr/>
        </p:nvSpPr>
        <p:spPr>
          <a:xfrm>
            <a:off x="457200" y="4315968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i="1" dirty="0">
                <a:solidFill>
                  <a:srgbClr val="5F65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 load the contrast panel is empty by construction, and the endpoints refuse a request without a selection: no typed URL produces a global result.</a:t>
            </a:r>
            <a:endParaRPr lang="en-US" sz="115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E9EB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56032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F233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reduction inside the analysis flow</a:t>
            </a:r>
            <a:endParaRPr lang="en-US" sz="2800" dirty="0"/>
          </a:p>
        </p:txBody>
      </p:sp>
      <p:pic>
        <p:nvPicPr>
          <p:cNvPr id="3" name="Image 0" descr="C:\Users\samue\AppData\Local\Temp\claude\C--Users-samue-Documents-Universit--Magistrale-Visual-Analytics-threat-shape\5b1a0e67-32f2-4383-9f6b-aabc9bc776c8\scratchpad\deck\img\reprojection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11480" y="1051560"/>
            <a:ext cx="5943600" cy="2834640"/>
          </a:xfrm>
          <a:prstGeom prst="rect">
            <a:avLst/>
          </a:prstGeom>
        </p:spPr>
      </p:pic>
      <p:sp>
        <p:nvSpPr>
          <p:cNvPr id="4" name="Text 1"/>
          <p:cNvSpPr txBox="1"/>
          <p:nvPr/>
        </p:nvSpPr>
        <p:spPr>
          <a:xfrm>
            <a:off x="411480" y="4005072"/>
            <a:ext cx="5943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i="1" dirty="0">
                <a:solidFill>
                  <a:srgbClr val="5F65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selected cluster, re-embedded on its own: n, perplexity and trustworthiness are reported.</a:t>
            </a:r>
            <a:endParaRPr lang="en-US" sz="1050" dirty="0"/>
          </a:p>
        </p:txBody>
      </p:sp>
      <p:sp>
        <p:nvSpPr>
          <p:cNvPr id="5" name="Shape 2"/>
          <p:cNvSpPr/>
          <p:nvPr/>
        </p:nvSpPr>
        <p:spPr>
          <a:xfrm>
            <a:off x="6537960" y="1051560"/>
            <a:ext cx="2194560" cy="2834640"/>
          </a:xfrm>
          <a:prstGeom prst="roundRect">
            <a:avLst>
              <a:gd name="adj" fmla="val 2500"/>
            </a:avLst>
          </a:prstGeom>
          <a:solidFill>
            <a:srgbClr val="FFFFFF"/>
          </a:solidFill>
          <a:ln/>
          <a:effectLst>
            <a:outerShdw sx="100000" sy="100000" kx="0" ky="0" algn="bl" rotWithShape="0" blurRad="76200" dist="12700" dir="5400000">
              <a:srgbClr val="1F2330">
                <a:alpha val="12000"/>
              </a:srgbClr>
            </a:outerShdw>
          </a:effectLst>
        </p:spPr>
      </p:sp>
      <p:sp>
        <p:nvSpPr>
          <p:cNvPr id="6" name="Text 3"/>
          <p:cNvSpPr txBox="1"/>
          <p:nvPr/>
        </p:nvSpPr>
        <p:spPr>
          <a:xfrm>
            <a:off x="6720840" y="1234440"/>
            <a:ext cx="1874520" cy="2514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150" dirty="0">
                <a:solidFill>
                  <a:srgbClr val="1F23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Refitted, not filtered: structure the global embedding compressed can re-emerge</a:t>
            </a:r>
            <a:endParaRPr lang="en-US" sz="115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150" dirty="0">
                <a:solidFill>
                  <a:srgbClr val="1F23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banner is there because a local layout looks like the global one</a:t>
            </a:r>
            <a:endParaRPr lang="en-US" sz="115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150" dirty="0">
                <a:solidFill>
                  <a:srgbClr val="1F23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Trustworthiness 0.93–0.98 on the subsets we report</a:t>
            </a:r>
            <a:endParaRPr lang="en-US" sz="115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E9EB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56032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F233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Insight 1 — one country, two operational families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457200" y="1024128"/>
            <a:ext cx="4023360" cy="2395728"/>
          </a:xfrm>
          <a:prstGeom prst="roundRect">
            <a:avLst>
              <a:gd name="adj" fmla="val 2290"/>
            </a:avLst>
          </a:prstGeom>
          <a:solidFill>
            <a:srgbClr val="FFFFFF"/>
          </a:solidFill>
          <a:ln/>
          <a:effectLst>
            <a:outerShdw sx="100000" sy="100000" kx="0" ky="0" algn="bl" rotWithShape="0" blurRad="76200" dist="12700" dir="5400000">
              <a:srgbClr val="1F2330">
                <a:alpha val="12000"/>
              </a:srgbClr>
            </a:outerShdw>
          </a:effectLst>
        </p:spPr>
      </p:sp>
      <p:sp>
        <p:nvSpPr>
          <p:cNvPr id="4" name="Text 2"/>
          <p:cNvSpPr txBox="1"/>
          <p:nvPr/>
        </p:nvSpPr>
        <p:spPr>
          <a:xfrm>
            <a:off x="685800" y="1170432"/>
            <a:ext cx="3566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000" b="1" dirty="0">
                <a:solidFill>
                  <a:srgbClr val="5F657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37 incidents</a:t>
            </a:r>
            <a:endParaRPr lang="en-US" sz="2000" dirty="0"/>
          </a:p>
        </p:txBody>
      </p:sp>
      <p:sp>
        <p:nvSpPr>
          <p:cNvPr id="5" name="Text 3"/>
          <p:cNvSpPr txBox="1"/>
          <p:nvPr/>
        </p:nvSpPr>
        <p:spPr>
          <a:xfrm>
            <a:off x="685800" y="1627632"/>
            <a:ext cx="3566160" cy="2194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rgbClr val="1F23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Mean weighted intensity 1.59</a:t>
            </a:r>
            <a:endParaRPr lang="en-US" sz="13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rgbClr val="1F23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Denial of service: banks, regional networks, broadcasters</a:t>
            </a:r>
            <a:endParaRPr lang="en-US" sz="13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rgbClr val="1F23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Impact lasting a single day: +73.5pp, z = 10.8</a:t>
            </a:r>
            <a:endParaRPr lang="en-US" sz="13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rgbClr val="1F23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data taken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4663440" y="1024128"/>
            <a:ext cx="4023360" cy="2395728"/>
          </a:xfrm>
          <a:prstGeom prst="roundRect">
            <a:avLst>
              <a:gd name="adj" fmla="val 2290"/>
            </a:avLst>
          </a:prstGeom>
          <a:solidFill>
            <a:srgbClr val="FFFFFF"/>
          </a:solidFill>
          <a:ln/>
          <a:effectLst>
            <a:outerShdw sx="100000" sy="100000" kx="0" ky="0" algn="bl" rotWithShape="0" blurRad="76200" dist="12700" dir="5400000">
              <a:srgbClr val="1F2330">
                <a:alpha val="12000"/>
              </a:srgbClr>
            </a:outerShdw>
          </a:effectLst>
        </p:spPr>
      </p:sp>
      <p:sp>
        <p:nvSpPr>
          <p:cNvPr id="7" name="Text 5"/>
          <p:cNvSpPr txBox="1"/>
          <p:nvPr/>
        </p:nvSpPr>
        <p:spPr>
          <a:xfrm>
            <a:off x="4892040" y="1170432"/>
            <a:ext cx="3566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000" b="1" dirty="0">
                <a:solidFill>
                  <a:srgbClr val="B2182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78 incidents</a:t>
            </a:r>
            <a:endParaRPr lang="en-US" sz="2000" dirty="0"/>
          </a:p>
        </p:txBody>
      </p:sp>
      <p:sp>
        <p:nvSpPr>
          <p:cNvPr id="8" name="Text 6"/>
          <p:cNvSpPr txBox="1"/>
          <p:nvPr/>
        </p:nvSpPr>
        <p:spPr>
          <a:xfrm>
            <a:off x="4892040" y="1627632"/>
            <a:ext cx="3566160" cy="2194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rgbClr val="1F23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Mean weighted intensity 3.26</a:t>
            </a:r>
            <a:endParaRPr lang="en-US" sz="13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rgbClr val="1F23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Intrusion: 800 servers wiped, providers and state TV breached</a:t>
            </a:r>
            <a:endParaRPr lang="en-US" sz="13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rgbClr val="1F23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exfiltration: +65.9pp, z = 10.0</a:t>
            </a:r>
            <a:endParaRPr lang="en-US" sz="13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rgbClr val="1F23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Tied to an offline conflict over territory and resources</a:t>
            </a:r>
            <a:endParaRPr lang="en-US" sz="1300" dirty="0"/>
          </a:p>
        </p:txBody>
      </p:sp>
      <p:sp>
        <p:nvSpPr>
          <p:cNvPr id="9" name="Text 7"/>
          <p:cNvSpPr txBox="1"/>
          <p:nvPr/>
        </p:nvSpPr>
        <p:spPr>
          <a:xfrm>
            <a:off x="457200" y="361188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1F23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Same attackers in both — Ukraine's military intelligence and volunteer groups — and the same 38–40% unattributed. The projection cut by what the operation does, not by who runs it.</a:t>
            </a:r>
            <a:endParaRPr lang="en-US" sz="13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E9EB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56032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F233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Insight 2 — a coding break that looks like a trend</a:t>
            </a:r>
            <a:endParaRPr lang="en-US" sz="2800" dirty="0"/>
          </a:p>
        </p:txBody>
      </p:sp>
      <p:pic>
        <p:nvPicPr>
          <p:cNvPr id="3" name="Image 0" descr="C:\Users\samue\AppData\Local\Temp\claude\C--Users-samue-Documents-Universit--Magistrale-Visual-Analytics-threat-shape\5b1a0e67-32f2-4383-9f6b-aabc9bc776c8\scratchpad\deck\img\coding-break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11480" y="1051560"/>
            <a:ext cx="5943600" cy="2834640"/>
          </a:xfrm>
          <a:prstGeom prst="rect">
            <a:avLst/>
          </a:prstGeom>
        </p:spPr>
      </p:pic>
      <p:sp>
        <p:nvSpPr>
          <p:cNvPr id="4" name="Text 1"/>
          <p:cNvSpPr txBox="1"/>
          <p:nvPr/>
        </p:nvSpPr>
        <p:spPr>
          <a:xfrm>
            <a:off x="411480" y="4005072"/>
            <a:ext cx="5943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i="1" dirty="0">
                <a:solidFill>
                  <a:srgbClr val="5F65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Brushing 2000–2013: the five strongest features are all artefacts of coding, |z| between 26 and 34.</a:t>
            </a:r>
            <a:endParaRPr lang="en-US" sz="1050" dirty="0"/>
          </a:p>
        </p:txBody>
      </p:sp>
      <p:sp>
        <p:nvSpPr>
          <p:cNvPr id="5" name="Shape 2"/>
          <p:cNvSpPr/>
          <p:nvPr/>
        </p:nvSpPr>
        <p:spPr>
          <a:xfrm>
            <a:off x="6537960" y="1051560"/>
            <a:ext cx="2194560" cy="2834640"/>
          </a:xfrm>
          <a:prstGeom prst="roundRect">
            <a:avLst>
              <a:gd name="adj" fmla="val 2500"/>
            </a:avLst>
          </a:prstGeom>
          <a:solidFill>
            <a:srgbClr val="FFFFFF"/>
          </a:solidFill>
          <a:ln/>
          <a:effectLst>
            <a:outerShdw sx="100000" sy="100000" kx="0" ky="0" algn="bl" rotWithShape="0" blurRad="76200" dist="12700" dir="5400000">
              <a:srgbClr val="1F2330">
                <a:alpha val="12000"/>
              </a:srgbClr>
            </a:outerShdw>
          </a:effectLst>
        </p:spPr>
      </p:sp>
      <p:sp>
        <p:nvSpPr>
          <p:cNvPr id="6" name="Text 3"/>
          <p:cNvSpPr txBox="1"/>
          <p:nvPr/>
        </p:nvSpPr>
        <p:spPr>
          <a:xfrm>
            <a:off x="6720840" y="1234440"/>
            <a:ext cx="1874520" cy="2514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150" dirty="0">
                <a:solidFill>
                  <a:srgbClr val="1F23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“Not available” on law and impact: 100% in 2013, 2% in 2024</a:t>
            </a:r>
            <a:endParaRPr lang="en-US" sz="115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150" dirty="0">
                <a:solidFill>
                  <a:srgbClr val="1F23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Type labels per incident grow from 1.21 to 2.04</a:t>
            </a:r>
            <a:endParaRPr lang="en-US" sz="115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150" dirty="0">
                <a:solidFill>
                  <a:srgbClr val="1F23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 of the timeline's rise is coding granularity, not threat</a:t>
            </a:r>
            <a:endParaRPr lang="en-US" sz="115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E9EB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56032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F233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Insight 3 — attribution follows the adversary</a:t>
            </a:r>
            <a:endParaRPr lang="en-US" sz="2800" dirty="0"/>
          </a:p>
        </p:txBody>
      </p:sp>
      <p:pic>
        <p:nvPicPr>
          <p:cNvPr id="3" name="Image 0" descr="C:\Users\samue\AppData\Local\Temp\claude\C--Users-samue-Documents-Universit--Magistrale-Visual-Analytics-threat-shape\5b1a0e67-32f2-4383-9f6b-aabc9bc776c8\scratchpad\deck\img\attribution-map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11480" y="1051560"/>
            <a:ext cx="5943600" cy="2834640"/>
          </a:xfrm>
          <a:prstGeom prst="rect">
            <a:avLst/>
          </a:prstGeom>
        </p:spPr>
      </p:pic>
      <p:sp>
        <p:nvSpPr>
          <p:cNvPr id="4" name="Text 1"/>
          <p:cNvSpPr txBox="1"/>
          <p:nvPr/>
        </p:nvSpPr>
        <p:spPr>
          <a:xfrm>
            <a:off x="411480" y="4005072"/>
            <a:ext cx="5943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i="1" dirty="0">
                <a:solidFill>
                  <a:srgbClr val="5F65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Share of a country's incidents with no named initiator state: two clear regimes.</a:t>
            </a:r>
            <a:endParaRPr lang="en-US" sz="1050" dirty="0"/>
          </a:p>
        </p:txBody>
      </p:sp>
      <p:sp>
        <p:nvSpPr>
          <p:cNvPr id="5" name="Shape 2"/>
          <p:cNvSpPr/>
          <p:nvPr/>
        </p:nvSpPr>
        <p:spPr>
          <a:xfrm>
            <a:off x="6537960" y="1051560"/>
            <a:ext cx="2194560" cy="2834640"/>
          </a:xfrm>
          <a:prstGeom prst="roundRect">
            <a:avLst>
              <a:gd name="adj" fmla="val 2500"/>
            </a:avLst>
          </a:prstGeom>
          <a:solidFill>
            <a:srgbClr val="FFFFFF"/>
          </a:solidFill>
          <a:ln/>
          <a:effectLst>
            <a:outerShdw sx="100000" sy="100000" kx="0" ky="0" algn="bl" rotWithShape="0" blurRad="76200" dist="12700" dir="5400000">
              <a:srgbClr val="1F2330">
                <a:alpha val="12000"/>
              </a:srgbClr>
            </a:outerShdw>
          </a:effectLst>
        </p:spPr>
      </p:sp>
      <p:sp>
        <p:nvSpPr>
          <p:cNvPr id="6" name="Text 3"/>
          <p:cNvSpPr txBox="1"/>
          <p:nvPr/>
        </p:nvSpPr>
        <p:spPr>
          <a:xfrm>
            <a:off x="6720840" y="1234440"/>
            <a:ext cx="1874520" cy="2514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150" dirty="0">
                <a:solidFill>
                  <a:srgbClr val="1F23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Below 30%: KR, SA, AE, IN, CN, VN, UA</a:t>
            </a:r>
            <a:endParaRPr lang="en-US" sz="115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150" dirty="0">
                <a:solidFill>
                  <a:srgbClr val="1F23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Above 55%: FR, ES, MX, CA, IT, US, DE, CH, AU, BE</a:t>
            </a:r>
            <a:endParaRPr lang="en-US" sz="115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150" dirty="0">
                <a:solidFill>
                  <a:srgbClr val="1F23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State-affiliated initiators: 45.2% against 15.6%</a:t>
            </a:r>
            <a:endParaRPr lang="en-US" sz="115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E9EB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56032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F233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Two negative claims, made checkable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457200" y="1024128"/>
            <a:ext cx="3977640" cy="13716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/>
          <a:effectLst>
            <a:outerShdw sx="100000" sy="100000" kx="0" ky="0" algn="bl" rotWithShape="0" blurRad="76200" dist="12700" dir="5400000">
              <a:srgbClr val="1F2330">
                <a:alpha val="12000"/>
              </a:srgbClr>
            </a:outerShdw>
          </a:effectLst>
        </p:spPr>
      </p:sp>
      <p:sp>
        <p:nvSpPr>
          <p:cNvPr id="4" name="Text 2"/>
          <p:cNvSpPr txBox="1"/>
          <p:nvPr/>
        </p:nvSpPr>
        <p:spPr>
          <a:xfrm>
            <a:off x="640080" y="1133856"/>
            <a:ext cx="11887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100" b="1" dirty="0">
                <a:solidFill>
                  <a:srgbClr val="238B4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26/26</a:t>
            </a:r>
            <a:endParaRPr lang="en-US" sz="2100" dirty="0"/>
          </a:p>
        </p:txBody>
      </p:sp>
      <p:sp>
        <p:nvSpPr>
          <p:cNvPr id="5" name="Text 3"/>
          <p:cNvSpPr txBox="1"/>
          <p:nvPr/>
        </p:nvSpPr>
        <p:spPr>
          <a:xfrm>
            <a:off x="1828800" y="1207008"/>
            <a:ext cx="2377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b="1" dirty="0">
                <a:solidFill>
                  <a:srgbClr val="1F23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trigger audit</a:t>
            </a:r>
            <a:endParaRPr lang="en-US" sz="1250" dirty="0"/>
          </a:p>
        </p:txBody>
      </p:sp>
      <p:sp>
        <p:nvSpPr>
          <p:cNvPr id="6" name="Text 4"/>
          <p:cNvSpPr txBox="1"/>
          <p:nvPr/>
        </p:nvSpPr>
        <p:spPr>
          <a:xfrm>
            <a:off x="640080" y="1591056"/>
            <a:ext cx="36118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5F65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select or radio elements; each store mutator called from one view; endpoints answer 404 to GET and 422 to an empty selection</a:t>
            </a:r>
            <a:endParaRPr lang="en-US" sz="1050" dirty="0"/>
          </a:p>
        </p:txBody>
      </p:sp>
      <p:sp>
        <p:nvSpPr>
          <p:cNvPr id="7" name="Shape 5"/>
          <p:cNvSpPr/>
          <p:nvPr/>
        </p:nvSpPr>
        <p:spPr>
          <a:xfrm>
            <a:off x="4709160" y="1024128"/>
            <a:ext cx="3977640" cy="13716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/>
          <a:effectLst>
            <a:outerShdw sx="100000" sy="100000" kx="0" ky="0" algn="bl" rotWithShape="0" blurRad="76200" dist="12700" dir="5400000">
              <a:srgbClr val="1F2330">
                <a:alpha val="12000"/>
              </a:srgbClr>
            </a:outerShdw>
          </a:effectLst>
        </p:spPr>
      </p:sp>
      <p:sp>
        <p:nvSpPr>
          <p:cNvPr id="8" name="Text 6"/>
          <p:cNvSpPr txBox="1"/>
          <p:nvPr/>
        </p:nvSpPr>
        <p:spPr>
          <a:xfrm>
            <a:off x="4892040" y="1133856"/>
            <a:ext cx="11887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100" b="1" dirty="0">
                <a:solidFill>
                  <a:srgbClr val="238B4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46/46</a:t>
            </a:r>
            <a:endParaRPr lang="en-US" sz="2100" dirty="0"/>
          </a:p>
        </p:txBody>
      </p:sp>
      <p:sp>
        <p:nvSpPr>
          <p:cNvPr id="9" name="Text 7"/>
          <p:cNvSpPr txBox="1"/>
          <p:nvPr/>
        </p:nvSpPr>
        <p:spPr>
          <a:xfrm>
            <a:off x="6080760" y="1207008"/>
            <a:ext cx="2377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b="1" dirty="0">
                <a:solidFill>
                  <a:srgbClr val="1F23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visual encodings</a:t>
            </a:r>
            <a:endParaRPr lang="en-US" sz="1250" dirty="0"/>
          </a:p>
        </p:txBody>
      </p:sp>
      <p:sp>
        <p:nvSpPr>
          <p:cNvPr id="10" name="Text 8"/>
          <p:cNvSpPr txBox="1"/>
          <p:nvPr/>
        </p:nvSpPr>
        <p:spPr>
          <a:xfrm>
            <a:off x="4892040" y="1591056"/>
            <a:ext cx="36118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5F65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palettes measured against three simulated colour-vision deficiencies; divergent scales only on signed quantities; a legend in every view</a:t>
            </a:r>
            <a:endParaRPr lang="en-US" sz="1050" dirty="0"/>
          </a:p>
        </p:txBody>
      </p:sp>
      <p:sp>
        <p:nvSpPr>
          <p:cNvPr id="11" name="Shape 9"/>
          <p:cNvSpPr/>
          <p:nvPr/>
        </p:nvSpPr>
        <p:spPr>
          <a:xfrm>
            <a:off x="457200" y="2578608"/>
            <a:ext cx="3977640" cy="13716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/>
          <a:effectLst>
            <a:outerShdw sx="100000" sy="100000" kx="0" ky="0" algn="bl" rotWithShape="0" blurRad="76200" dist="12700" dir="5400000">
              <a:srgbClr val="1F2330">
                <a:alpha val="12000"/>
              </a:srgbClr>
            </a:outerShdw>
          </a:effectLst>
        </p:spPr>
      </p:sp>
      <p:sp>
        <p:nvSpPr>
          <p:cNvPr id="12" name="Text 10"/>
          <p:cNvSpPr txBox="1"/>
          <p:nvPr/>
        </p:nvSpPr>
        <p:spPr>
          <a:xfrm>
            <a:off x="640080" y="2688336"/>
            <a:ext cx="11887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100" b="1" dirty="0">
                <a:solidFill>
                  <a:srgbClr val="238B4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25/25</a:t>
            </a:r>
            <a:endParaRPr lang="en-US" sz="2100" dirty="0"/>
          </a:p>
        </p:txBody>
      </p:sp>
      <p:sp>
        <p:nvSpPr>
          <p:cNvPr id="13" name="Text 11"/>
          <p:cNvSpPr txBox="1"/>
          <p:nvPr/>
        </p:nvSpPr>
        <p:spPr>
          <a:xfrm>
            <a:off x="1828800" y="2761488"/>
            <a:ext cx="2377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b="1" dirty="0">
                <a:solidFill>
                  <a:srgbClr val="1F23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runtime triggers</a:t>
            </a:r>
            <a:endParaRPr lang="en-US" sz="1250" dirty="0"/>
          </a:p>
        </p:txBody>
      </p:sp>
      <p:sp>
        <p:nvSpPr>
          <p:cNvPr id="14" name="Text 12"/>
          <p:cNvSpPr txBox="1"/>
          <p:nvPr/>
        </p:nvSpPr>
        <p:spPr>
          <a:xfrm>
            <a:off x="640080" y="3145536"/>
            <a:ext cx="36118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5F65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replays interactions in the browser and asserts what is on screen</a:t>
            </a:r>
            <a:endParaRPr lang="en-US" sz="1050" dirty="0"/>
          </a:p>
        </p:txBody>
      </p:sp>
      <p:sp>
        <p:nvSpPr>
          <p:cNvPr id="15" name="Shape 13"/>
          <p:cNvSpPr/>
          <p:nvPr/>
        </p:nvSpPr>
        <p:spPr>
          <a:xfrm>
            <a:off x="4709160" y="2578608"/>
            <a:ext cx="3977640" cy="13716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/>
          <a:effectLst>
            <a:outerShdw sx="100000" sy="100000" kx="0" ky="0" algn="bl" rotWithShape="0" blurRad="76200" dist="12700" dir="5400000">
              <a:srgbClr val="1F2330">
                <a:alpha val="12000"/>
              </a:srgbClr>
            </a:outerShdw>
          </a:effectLst>
        </p:spPr>
      </p:sp>
      <p:sp>
        <p:nvSpPr>
          <p:cNvPr id="16" name="Text 14"/>
          <p:cNvSpPr txBox="1"/>
          <p:nvPr/>
        </p:nvSpPr>
        <p:spPr>
          <a:xfrm>
            <a:off x="4892040" y="2688336"/>
            <a:ext cx="11887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100" b="1" dirty="0">
                <a:solidFill>
                  <a:srgbClr val="238B4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34/34</a:t>
            </a:r>
            <a:endParaRPr lang="en-US" sz="2100" dirty="0"/>
          </a:p>
        </p:txBody>
      </p:sp>
      <p:sp>
        <p:nvSpPr>
          <p:cNvPr id="17" name="Text 15"/>
          <p:cNvSpPr txBox="1"/>
          <p:nvPr/>
        </p:nvSpPr>
        <p:spPr>
          <a:xfrm>
            <a:off x="6080760" y="2761488"/>
            <a:ext cx="2377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b="1" dirty="0">
                <a:solidFill>
                  <a:srgbClr val="1F23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legends &amp; layout</a:t>
            </a:r>
            <a:endParaRPr lang="en-US" sz="1250" dirty="0"/>
          </a:p>
        </p:txBody>
      </p:sp>
      <p:sp>
        <p:nvSpPr>
          <p:cNvPr id="18" name="Text 16"/>
          <p:cNvSpPr txBox="1"/>
          <p:nvPr/>
        </p:nvSpPr>
        <p:spPr>
          <a:xfrm>
            <a:off x="4892040" y="3145536"/>
            <a:ext cx="36118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5F65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legend populated in every state, no view scrolls, no chart wider than its card</a:t>
            </a:r>
            <a:endParaRPr lang="en-US" sz="1050" dirty="0"/>
          </a:p>
        </p:txBody>
      </p:sp>
      <p:sp>
        <p:nvSpPr>
          <p:cNvPr id="19" name="Text 17"/>
          <p:cNvSpPr txBox="1"/>
          <p:nvPr/>
        </p:nvSpPr>
        <p:spPr>
          <a:xfrm>
            <a:off x="457200" y="4224528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i="1" dirty="0">
                <a:solidFill>
                  <a:srgbClr val="5F65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suites caught a click that re-projected the wrong selection, and a redraw that reached the views directly instead of going through the store.</a:t>
            </a:r>
            <a:endParaRPr lang="en-US" sz="115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E9EB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56032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F233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What the tool cannot tell you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457200" y="1051560"/>
            <a:ext cx="8229600" cy="3017520"/>
          </a:xfrm>
          <a:prstGeom prst="roundRect">
            <a:avLst>
              <a:gd name="adj" fmla="val 1818"/>
            </a:avLst>
          </a:prstGeom>
          <a:solidFill>
            <a:srgbClr val="FFFFFF"/>
          </a:solidFill>
          <a:ln/>
          <a:effectLst>
            <a:outerShdw sx="100000" sy="100000" kx="0" ky="0" algn="bl" rotWithShape="0" blurRad="76200" dist="12700" dir="5400000">
              <a:srgbClr val="1F2330">
                <a:alpha val="12000"/>
              </a:srgbClr>
            </a:outerShdw>
          </a:effectLst>
        </p:spPr>
      </p:sp>
      <p:sp>
        <p:nvSpPr>
          <p:cNvPr id="4" name="Text 2"/>
          <p:cNvSpPr txBox="1"/>
          <p:nvPr/>
        </p:nvSpPr>
        <p:spPr>
          <a:xfrm>
            <a:off x="731520" y="1325880"/>
            <a:ext cx="7680960" cy="2560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rgbClr val="1F23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corpus records publicly reported incidents, coded by humans: under-reporting is invisible, and insight 2 shows how strongly coding practice can drive a result</a:t>
            </a:r>
            <a:endParaRPr lang="en-US" sz="13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rgbClr val="1F23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Each contrast tests 123 indicators with no multiple-comparison correction, so our claims lean on |z| &gt; 3 and on features that agree with each other</a:t>
            </a:r>
            <a:endParaRPr lang="en-US" sz="13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rgbClr val="1F23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Initiators have no map layer: the Ukraine–Russia mirror had to be read in the contrast panel rather than seen geographically</a:t>
            </a:r>
            <a:endParaRPr lang="en-US" sz="13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rgbClr val="1F23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Three or more countries are compared as a group against the rest of the world, with no per-member breakdown — measured, click order would otherwise decide the answer</a:t>
            </a:r>
            <a:endParaRPr lang="en-US" sz="13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3F3B7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1051560"/>
            <a:ext cx="78638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What the demo will show</a:t>
            </a:r>
            <a:endParaRPr lang="en-US" sz="3200" dirty="0"/>
          </a:p>
        </p:txBody>
      </p:sp>
      <p:sp>
        <p:nvSpPr>
          <p:cNvPr id="3" name="Text 1"/>
          <p:cNvSpPr txBox="1"/>
          <p:nvPr/>
        </p:nvSpPr>
        <p:spPr>
          <a:xfrm>
            <a:off x="777240" y="1828800"/>
            <a:ext cx="758952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rgbClr val="E6E4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country clicked, and the same selection answered in four views</a:t>
            </a:r>
            <a:endParaRPr lang="en-US" sz="15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rgbClr val="E6E4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cluster lassoed, and the projection refitted on it alone</a:t>
            </a:r>
            <a:endParaRPr lang="en-US" sz="15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rgbClr val="E6E4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time window brushed, and every computation restricted to it</a:t>
            </a:r>
            <a:endParaRPr lang="en-US" sz="15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rgbClr val="E6E4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Two countries compared directly, feature by feature</a:t>
            </a:r>
            <a:endParaRPr lang="en-US" sz="1500" dirty="0"/>
          </a:p>
        </p:txBody>
      </p:sp>
      <p:sp>
        <p:nvSpPr>
          <p:cNvPr id="4" name="Text 2"/>
          <p:cNvSpPr txBox="1"/>
          <p:nvPr/>
        </p:nvSpPr>
        <p:spPr>
          <a:xfrm>
            <a:off x="640080" y="4069080"/>
            <a:ext cx="78638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CFCB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github.com/SamueleProietti/Visual_Analytics-Project</a:t>
            </a:r>
            <a:endParaRPr lang="en-US" sz="13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17</Slides>
  <Notes>17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17</vt:i4>
      </vt:variant>
    </vt:vector>
  </HeadingPairs>
  <TitlesOfParts>
    <vt:vector size="20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Threat-Shape</dc:title>
  <dc:subject>PptxGenJS Presentation</dc:subject>
  <dc:creator>Samuele Proietti, Marco Alberti</dc:creator>
  <cp:lastModifiedBy>Samuele Proietti, Marco Alberti</cp:lastModifiedBy>
  <cp:revision>1</cp:revision>
  <dcterms:created xsi:type="dcterms:W3CDTF">2026-09-24T18:27:23Z</dcterms:created>
  <dcterms:modified xsi:type="dcterms:W3CDTF">2026-09-24T18:27:23Z</dcterms:modified>
</cp:coreProperties>
</file>